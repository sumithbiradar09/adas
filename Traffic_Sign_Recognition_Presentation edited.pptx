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h Biradar" userId="7fe1e426442e7985" providerId="LiveId" clId="{76E3527F-95A8-4608-9508-5916EBE6DE62}"/>
    <pc:docChg chg="modSld">
      <pc:chgData name="sumith Biradar" userId="7fe1e426442e7985" providerId="LiveId" clId="{76E3527F-95A8-4608-9508-5916EBE6DE62}" dt="2026-10-01T08:58:08.944" v="1" actId="1035"/>
      <pc:docMkLst>
        <pc:docMk/>
      </pc:docMkLst>
      <pc:sldChg chg="modSp mod">
        <pc:chgData name="sumith Biradar" userId="7fe1e426442e7985" providerId="LiveId" clId="{76E3527F-95A8-4608-9508-5916EBE6DE62}" dt="2026-10-01T08:58:08.944" v="1" actId="1035"/>
        <pc:sldMkLst>
          <pc:docMk/>
          <pc:sldMk cId="1071421401" sldId="263"/>
        </pc:sldMkLst>
        <pc:graphicFrameChg chg="mod">
          <ac:chgData name="sumith Biradar" userId="7fe1e426442e7985" providerId="LiveId" clId="{76E3527F-95A8-4608-9508-5916EBE6DE62}" dt="2026-10-01T08:58:08.944" v="1" actId="1035"/>
          <ac:graphicFrameMkLst>
            <pc:docMk/>
            <pc:sldMk cId="1071421401" sldId="263"/>
            <ac:graphicFrameMk id="18" creationId="{6CCA2E56-99B2-ACBC-7481-C13DA40DFA7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42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ijlct/article/doi/10.1093/ijlct/ctad049/7199636" TargetMode="External"/><Relationship Id="rId7" Type="http://schemas.openxmlformats.org/officeDocument/2006/relationships/hyperlink" Target="https://www.nature.com/articles/s41598-025-88184-0" TargetMode="External"/><Relationship Id="rId2" Type="http://schemas.openxmlformats.org/officeDocument/2006/relationships/hyperlink" Target="https://www.frontiersin.org/journals/physics/articles/10.3389/fphy.2023.1297828/ful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.springer.com/article/10.1007/s10846-024-02173-5" TargetMode="External"/><Relationship Id="rId5" Type="http://schemas.openxmlformats.org/officeDocument/2006/relationships/hyperlink" Target="https://www.nature.com/articles/s41598-024-76804-0" TargetMode="External"/><Relationship Id="rId4" Type="http://schemas.openxmlformats.org/officeDocument/2006/relationships/hyperlink" Target="https://journals.plos.org/plosone/article?id=10.1371/journal.pone.031026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Traffic Sign Recognition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Vision and Deep Learning-Based Intelligent Driver Assistance System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Yaswanth Sai  ·  2420090154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Sumith  ·  2420030696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Shruthik Reddy  ·  2420030247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45720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457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310896" cy="310896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325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signs communicate rules, warnings and directions, yet drivers can miss them on busy roads, in unfamiliar areas or in poor visibility.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2240280"/>
            <a:ext cx="310896" cy="310896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2402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Autonomous Driver Assistive Systems (ADAS) combine computer vision, deep learning and sensor fusion to perceive the road and support safer decisions.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310896" cy="310896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3154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Traffic Sign Recognition system that detects, classifies and explains signs from road images or video frames.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ADAS functions: lane keeping, traffic-light recognition, collision warning, driver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1F29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can miss or misread traffic signs, and automated recognition still struggles outside controlled conditions.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fast, accurate and easy-to-use recognition system that assists the driver.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280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38988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&amp; small signs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Blocked, damaged or tiny signs reduce accuracy.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280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38988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conditions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fog, glare, shadows and low light degrade results.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43400" y="253288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demands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models need large, diverse, well-annotated datasets.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253288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appearance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Shapes, sizes and colours differ by location and road.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566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43400" y="367588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load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video needs heavy compute, especially on edge devices.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566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367588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vs. road gap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accuracy may not hold in real driving; models are hard to explain.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481328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computer-vision pipeline that detects traffic signs in road images or video frames in real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481328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implement a deep learning model that accurately recognizes and categorizes different sign types.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64408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user-friendly module that shows the detected sign, its category and its meaning to the driver.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983480" y="329184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264408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alert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under different road, lighting and visibility conditions and provide timely driver alerts.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1974F199-3889-0714-F4DE-AF21E4464C9D}"/>
              </a:ext>
            </a:extLst>
          </p:cNvPr>
          <p:cNvSpPr txBox="1"/>
          <p:nvPr/>
        </p:nvSpPr>
        <p:spPr>
          <a:xfrm>
            <a:off x="1097280" y="6705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3200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DCB6B41-27F9-3619-ABB9-501FD5537DA2}"/>
              </a:ext>
            </a:extLst>
          </p:cNvPr>
          <p:cNvSpPr/>
          <p:nvPr/>
        </p:nvSpPr>
        <p:spPr>
          <a:xfrm>
            <a:off x="457200" y="67056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2AE1749-CE42-6109-0F27-6603E3761D4E}"/>
              </a:ext>
            </a:extLst>
          </p:cNvPr>
          <p:cNvSpPr txBox="1"/>
          <p:nvPr/>
        </p:nvSpPr>
        <p:spPr>
          <a:xfrm>
            <a:off x="457200" y="6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CCA2E56-99B2-ACBC-7481-C13DA40DF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244979"/>
              </p:ext>
            </p:extLst>
          </p:nvPr>
        </p:nvGraphicFramePr>
        <p:xfrm>
          <a:off x="103632" y="660107"/>
          <a:ext cx="8808720" cy="432032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540789">
                  <a:extLst>
                    <a:ext uri="{9D8B030D-6E8A-4147-A177-3AD203B41FA5}">
                      <a16:colId xmlns:a16="http://schemas.microsoft.com/office/drawing/2014/main" val="2450964907"/>
                    </a:ext>
                  </a:extLst>
                </a:gridCol>
                <a:gridCol w="1014300">
                  <a:extLst>
                    <a:ext uri="{9D8B030D-6E8A-4147-A177-3AD203B41FA5}">
                      <a16:colId xmlns:a16="http://schemas.microsoft.com/office/drawing/2014/main" val="3921358653"/>
                    </a:ext>
                  </a:extLst>
                </a:gridCol>
                <a:gridCol w="1222164">
                  <a:extLst>
                    <a:ext uri="{9D8B030D-6E8A-4147-A177-3AD203B41FA5}">
                      <a16:colId xmlns:a16="http://schemas.microsoft.com/office/drawing/2014/main" val="1418957192"/>
                    </a:ext>
                  </a:extLst>
                </a:gridCol>
                <a:gridCol w="1318763">
                  <a:extLst>
                    <a:ext uri="{9D8B030D-6E8A-4147-A177-3AD203B41FA5}">
                      <a16:colId xmlns:a16="http://schemas.microsoft.com/office/drawing/2014/main" val="2441978172"/>
                    </a:ext>
                  </a:extLst>
                </a:gridCol>
                <a:gridCol w="1118665">
                  <a:extLst>
                    <a:ext uri="{9D8B030D-6E8A-4147-A177-3AD203B41FA5}">
                      <a16:colId xmlns:a16="http://schemas.microsoft.com/office/drawing/2014/main" val="3374203960"/>
                    </a:ext>
                  </a:extLst>
                </a:gridCol>
                <a:gridCol w="1010850">
                  <a:extLst>
                    <a:ext uri="{9D8B030D-6E8A-4147-A177-3AD203B41FA5}">
                      <a16:colId xmlns:a16="http://schemas.microsoft.com/office/drawing/2014/main" val="3139154930"/>
                    </a:ext>
                  </a:extLst>
                </a:gridCol>
                <a:gridCol w="1380001">
                  <a:extLst>
                    <a:ext uri="{9D8B030D-6E8A-4147-A177-3AD203B41FA5}">
                      <a16:colId xmlns:a16="http://schemas.microsoft.com/office/drawing/2014/main" val="3210054199"/>
                    </a:ext>
                  </a:extLst>
                </a:gridCol>
                <a:gridCol w="1203188">
                  <a:extLst>
                    <a:ext uri="{9D8B030D-6E8A-4147-A177-3AD203B41FA5}">
                      <a16:colId xmlns:a16="http://schemas.microsoft.com/office/drawing/2014/main" val="4132886614"/>
                    </a:ext>
                  </a:extLst>
                </a:gridCol>
              </a:tblGrid>
              <a:tr h="400729">
                <a:tc>
                  <a:txBody>
                    <a:bodyPr/>
                    <a:lstStyle/>
                    <a:p>
                      <a:pPr marL="92710">
                        <a:spcBef>
                          <a:spcPts val="106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spcBef>
                          <a:spcPts val="5"/>
                        </a:spcBef>
                        <a:buNone/>
                      </a:pPr>
                      <a:r>
                        <a:rPr lang="en-US" sz="600" b="1" spc="-2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47625" algn="ctr">
                        <a:spcBef>
                          <a:spcPts val="390"/>
                        </a:spcBef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</a:t>
                      </a:r>
                      <a:r>
                        <a:rPr lang="en-US" sz="600" b="1" spc="-6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</a:t>
                      </a:r>
                      <a:r>
                        <a:rPr lang="en-US" sz="600" b="1" spc="-2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spcBef>
                          <a:spcPts val="39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1285" indent="120015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Year of </a:t>
                      </a: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spcBef>
                          <a:spcPts val="39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66395" indent="-304800">
                        <a:buNone/>
                      </a:pP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Downloadable </a:t>
                      </a:r>
                      <a:r>
                        <a:rPr lang="en-US" sz="600" b="1" spc="-2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-635" algn="ctr">
                        <a:spcBef>
                          <a:spcPts val="390"/>
                        </a:spcBef>
                        <a:buNone/>
                      </a:pP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Name/Scopus </a:t>
                      </a: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 Web of </a:t>
                      </a: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spcBef>
                          <a:spcPts val="39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24155" marR="140335" indent="-79375">
                        <a:buNone/>
                      </a:pP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 </a:t>
                      </a:r>
                      <a:r>
                        <a:rPr lang="en-US" sz="600" b="1" spc="-2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spcBef>
                          <a:spcPts val="39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58140" indent="-245745">
                        <a:buNone/>
                      </a:pP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</a:t>
                      </a:r>
                      <a:r>
                        <a:rPr lang="en-US" sz="600" b="1" spc="-2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spcBef>
                          <a:spcPts val="106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6205">
                        <a:spcBef>
                          <a:spcPts val="5"/>
                        </a:spcBef>
                        <a:buNone/>
                      </a:pPr>
                      <a:r>
                        <a:rPr lang="en-US" sz="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772813"/>
                  </a:ext>
                </a:extLst>
              </a:tr>
              <a:tr h="491518"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7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230">
                        <a:spcBef>
                          <a:spcPts val="390"/>
                        </a:spcBef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YOLOv5-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TS: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230" marR="114935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signs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Jiquan</a:t>
                      </a:r>
                      <a:r>
                        <a:rPr lang="en-US" sz="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Shen,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Ziyang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Zhang,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Junwei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Luo,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Xiaohong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Zhang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70"/>
                        </a:spcBef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3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>
                        <a:buNone/>
                      </a:pPr>
                      <a:r>
                        <a:rPr lang="en-US" sz="600" spc="-10">
                          <a:solidFill>
                            <a:srgbClr val="0462C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Download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>
                        <a:spcBef>
                          <a:spcPts val="39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Physics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080"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Scopus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r>
                        <a:rPr lang="en-US" sz="600" spc="-4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r>
                        <a:rPr lang="en-US" sz="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(SCIE)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22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>
                        <a:spcBef>
                          <a:spcPts val="5"/>
                        </a:spcBef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TT100K-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 marR="79375">
                        <a:buNone/>
                      </a:pPr>
                      <a:r>
                        <a:rPr lang="en-US" sz="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CCTSDB2021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7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0960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YOLOv5;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595" marR="77470">
                        <a:spcBef>
                          <a:spcPts val="82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 and extra-small traffic signs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still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cause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missed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detections;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real-world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variation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remains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challenging.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707812"/>
                  </a:ext>
                </a:extLst>
              </a:tr>
              <a:tr h="738700"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8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spcBef>
                          <a:spcPts val="5"/>
                        </a:spcBef>
                        <a:buNone/>
                      </a:pP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\2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230" marR="130175">
                        <a:spcBef>
                          <a:spcPts val="405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recognition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low-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carbon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nighttime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based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deep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learning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Liang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Ranran,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Ning Tao, Li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Jiayin,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Meng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8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spcBef>
                          <a:spcPts val="5"/>
                        </a:spcBef>
                        <a:buNone/>
                      </a:pPr>
                      <a:r>
                        <a:rPr lang="en-US" sz="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55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>
                        <a:buNone/>
                      </a:pPr>
                      <a:r>
                        <a:rPr lang="en-US" sz="600" spc="-10">
                          <a:solidFill>
                            <a:srgbClr val="0462C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Download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>
                        <a:spcBef>
                          <a:spcPts val="405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Low-Carbon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67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 marR="139065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Self-built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nighttime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dataset: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3,449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 marR="248920" algn="just">
                        <a:lnSpc>
                          <a:spcPct val="98000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images,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traffic-sign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8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0960">
                        <a:spcBef>
                          <a:spcPts val="5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</a:t>
                      </a:r>
                      <a:r>
                        <a:rPr lang="en-US" sz="600" spc="-4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29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 marR="169545"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contains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only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types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self-built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nighttime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conditions,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wider</a:t>
                      </a:r>
                      <a:r>
                        <a:rPr lang="en-US" sz="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road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scenarios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testing.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779001"/>
                  </a:ext>
                </a:extLst>
              </a:tr>
              <a:tr h="649322"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3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230" marR="75565">
                        <a:spcBef>
                          <a:spcPts val="400"/>
                        </a:spcBef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Improved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ShuffleNet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Liwei Liu, Lei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Wang,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Zhuang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3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3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91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>
                        <a:buNone/>
                      </a:pPr>
                      <a:r>
                        <a:rPr lang="en-US" sz="600" spc="-10">
                          <a:solidFill>
                            <a:srgbClr val="0462C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Download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>
                        <a:spcBef>
                          <a:spcPts val="40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PLOS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080">
                        <a:lnSpc>
                          <a:spcPct val="98000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Scopus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66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TT-100K;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>
                        <a:spcBef>
                          <a:spcPts val="5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filtered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signs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lang="en-US" sz="600" spc="-3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labels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3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0960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SCB-YOLOv5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spcBef>
                          <a:spcPts val="77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 marR="93345"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authors note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that the filtered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 has fewer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categories;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they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propose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expanding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dataset and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small-object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detection.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903560"/>
                  </a:ext>
                </a:extLst>
              </a:tr>
              <a:tr h="648287"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20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230" marR="133350">
                        <a:spcBef>
                          <a:spcPts val="390"/>
                        </a:spcBef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ML_SAP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YOLOv5s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230" marR="150495"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Zhenguo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Zhibo</a:t>
                      </a:r>
                      <a:r>
                        <a:rPr lang="en-US" sz="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Zhu,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Weipeng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Guixian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Jinyang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Chen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20"/>
                        </a:spcBef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89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>
                        <a:spcBef>
                          <a:spcPts val="5"/>
                        </a:spcBef>
                        <a:buNone/>
                      </a:pPr>
                      <a:r>
                        <a:rPr lang="en-US" sz="600" spc="-10">
                          <a:solidFill>
                            <a:srgbClr val="0462C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Download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marR="3810">
                        <a:spcBef>
                          <a:spcPts val="39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Scopus / Web of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23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 marR="79375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CCTSDB2021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TT100K;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selected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TT100K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>
                        <a:lnSpc>
                          <a:spcPct val="64773"/>
                        </a:lnSpc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20"/>
                        </a:spcBef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85090">
                        <a:buNone/>
                      </a:pPr>
                      <a:r>
                        <a:rPr lang="en-US" sz="6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YOLOv5s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spcBef>
                          <a:spcPts val="33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 marR="64135">
                        <a:spcBef>
                          <a:spcPts val="5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TT100K has an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imbalanced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distribution, so the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study keeps only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categories;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broader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road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conditions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need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further</a:t>
                      </a:r>
                      <a:r>
                        <a:rPr lang="en-US" sz="600" spc="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testing.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068794"/>
                  </a:ext>
                </a:extLst>
              </a:tr>
              <a:tr h="690713"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56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230" marR="61595">
                        <a:spcBef>
                          <a:spcPts val="39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Traffic Sign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Recognition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Learning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Guangyin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Zhang,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Zixu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Dan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Huang,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Wenguang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Luo,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Zhengjie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Yingbai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56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125"/>
                        </a:spcBef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>
                        <a:buNone/>
                      </a:pPr>
                      <a:r>
                        <a:rPr lang="en-US" sz="600" spc="-10" dirty="0">
                          <a:solidFill>
                            <a:srgbClr val="0462C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Download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>
                        <a:spcBef>
                          <a:spcPts val="390"/>
                        </a:spcBef>
                        <a:buNone/>
                      </a:pP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lang="en-US" sz="600" spc="-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600" spc="-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</a:t>
                      </a:r>
                      <a:r>
                        <a:rPr lang="en-US" sz="6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&amp; Robotic Systems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080">
                        <a:buNone/>
                      </a:pP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-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Scopus</a:t>
                      </a:r>
                      <a:r>
                        <a:rPr lang="en-US" sz="600" spc="-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600" spc="-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r>
                        <a:rPr lang="en-US" sz="600" spc="-4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6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r>
                        <a:rPr lang="en-US" sz="6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(SCIE)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28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 marR="198120" algn="just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Self-created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from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CTSDB,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 marR="183515">
                        <a:spcBef>
                          <a:spcPts val="1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TT100K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real-road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images: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758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images,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28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0960" marR="79375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MobileNetV1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backbone with a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redefined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layer;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deployed on an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STM32F103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0960" marR="165100"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OV2640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unmanned-vehicle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testbed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28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 marR="64135"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self-created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covers only 7 sign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types, so more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</a:t>
                      </a:r>
                      <a:r>
                        <a:rPr lang="en-US" sz="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diverse</a:t>
                      </a:r>
                      <a:r>
                        <a:rPr lang="en-US" sz="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road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conditions</a:t>
                      </a:r>
                      <a:r>
                        <a:rPr lang="en-US" sz="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are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needed.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559692"/>
                  </a:ext>
                </a:extLst>
              </a:tr>
              <a:tr h="701056"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66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230">
                        <a:spcBef>
                          <a:spcPts val="40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YOLO-BS: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230" marR="64770">
                        <a:spcBef>
                          <a:spcPts val="5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based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Zhang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Hong,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Liang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Mingyin,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Wang</a:t>
                      </a:r>
                      <a:r>
                        <a:rPr lang="en-US" sz="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Yufeng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66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0">
                        <a:buNone/>
                      </a:pPr>
                      <a:r>
                        <a:rPr lang="en-US" sz="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835"/>
                        </a:spcBef>
                        <a:buNone/>
                      </a:pPr>
                      <a:r>
                        <a:rPr lang="en-US" sz="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1595">
                        <a:buNone/>
                      </a:pPr>
                      <a:r>
                        <a:rPr lang="en-US" sz="600" spc="-10" dirty="0">
                          <a:solidFill>
                            <a:srgbClr val="0462C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Download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marR="3810">
                        <a:lnSpc>
                          <a:spcPct val="98000"/>
                        </a:lnSpc>
                        <a:spcBef>
                          <a:spcPts val="410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Scopus / Web of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28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TT100K;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865" marR="95885" algn="just">
                        <a:spcBef>
                          <a:spcPts val="5"/>
                        </a:spcBef>
                        <a:buNone/>
                      </a:pP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refined</a:t>
                      </a:r>
                      <a:r>
                        <a:rPr lang="en-US" sz="6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600" spc="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lang="en-US" sz="600" spc="-4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traffic-sign</a:t>
                      </a:r>
                      <a:r>
                        <a:rPr lang="en-US" sz="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spcBef>
                          <a:spcPts val="665"/>
                        </a:spcBef>
                        <a:buNone/>
                      </a:pPr>
                      <a:r>
                        <a:rPr lang="en-US" sz="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0960">
                        <a:buNone/>
                      </a:pPr>
                      <a:r>
                        <a:rPr lang="en-US" sz="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  <a:endParaRPr lang="en-IN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710">
                        <a:buNone/>
                      </a:pP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31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42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28016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1F29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papers reviewed (2023–2025)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YOLO-based detectors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7–45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categories in 4 of the 6 studies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13533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distant signs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extra-small signs still cause false or missed detections.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2048256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21214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filtered datasets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keep only 7–45 categories or use small self-built sets; TT100K is imbalanced.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816352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74720" y="2889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conditions tested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work is nighttime-only or dataset-bound; wider weather and road scenarios need testing.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3584448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0" y="36576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Detection-focused methods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methods centre on detection models; meaning display, driver alerts and explainability are not their focus.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4370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one pipeline from detection to meaning display and alert, tested across lighting and visibility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and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road image / video frame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2423160"/>
            <a:ext cx="292608" cy="292608"/>
          </a:xfrm>
          <a:prstGeom prst="rightArrow">
            <a:avLst/>
          </a:prstGeom>
          <a:solidFill>
            <a:srgbClr val="F5B700"/>
          </a:solidFill>
          <a:ln/>
        </p:spPr>
      </p:sp>
      <p:sp>
        <p:nvSpPr>
          <p:cNvPr id="9" name="Shape 7"/>
          <p:cNvSpPr/>
          <p:nvPr/>
        </p:nvSpPr>
        <p:spPr>
          <a:xfrm>
            <a:off x="3314700" y="12801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33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18745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traffic sign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sign region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classification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75020" y="2423160"/>
            <a:ext cx="292608" cy="292608"/>
          </a:xfrm>
          <a:prstGeom prst="rightArrow">
            <a:avLst/>
          </a:prstGeom>
          <a:solidFill>
            <a:srgbClr val="F5B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2801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8745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traffic sign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sign + meaning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driver alert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29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process the next frame, so recognition continues on live video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Project Plan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the literature: YOLO-family and lightweight models are widely used for sign detection.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such as TT100K and CCTSDB2021 are available for training and testing.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evaluated on dataset images and video, with no physical vehicle hardware required.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1417320"/>
            <a:ext cx="411480" cy="41148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3716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preprocessing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dataset, clean, annotate and augment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0" y="2057400"/>
            <a:ext cx="411480" cy="41148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0116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detection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tune the detection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2697480"/>
            <a:ext cx="411480" cy="41148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6517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the deep learning classifier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0" y="3337560"/>
            <a:ext cx="411480" cy="41148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1148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2918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alerts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sign, category and meaning; add driver alerts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0" y="3977640"/>
            <a:ext cx="411480" cy="41148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1148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39319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reporting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across lighting and visibility; document results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Traffic Sign Recognition System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Yaswanth Sai  ·  B. Sumith  ·  K. Shruthik Reddy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0" y="1188720"/>
            <a:ext cx="2743200" cy="2743200"/>
          </a:xfrm>
          <a:prstGeom prst="octagon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0" y="11887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1212</Words>
  <Application>Microsoft Office PowerPoint</Application>
  <PresentationFormat>On-screen Show (16:9)</PresentationFormat>
  <Paragraphs>312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sumith Biradar</cp:lastModifiedBy>
  <cp:revision>2</cp:revision>
  <dcterms:created xsi:type="dcterms:W3CDTF">2026-10-01T08:38:43Z</dcterms:created>
  <dcterms:modified xsi:type="dcterms:W3CDTF">2026-10-01T08:58:17Z</dcterms:modified>
</cp:coreProperties>
</file>